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Lst>
  <p:notesMasterIdLst>
    <p:notesMasterId r:id="rId10"/>
  </p:notesMasterIdLst>
  <p:handoutMasterIdLst>
    <p:handoutMasterId r:id="rId11"/>
  </p:handoutMasterIdLst>
  <p:sldIdLst>
    <p:sldId id="256" r:id="rId2"/>
    <p:sldId id="259" r:id="rId3"/>
    <p:sldId id="260" r:id="rId4"/>
    <p:sldId id="261" r:id="rId5"/>
    <p:sldId id="262" r:id="rId6"/>
    <p:sldId id="263" r:id="rId7"/>
    <p:sldId id="265" r:id="rId8"/>
    <p:sldId id="266" r:id="rId9"/>
  </p:sldIdLst>
  <p:sldSz cx="9144000" cy="5143500" type="screen16x9"/>
  <p:notesSz cx="6858000" cy="9144000"/>
  <p:embeddedFontLst>
    <p:embeddedFont>
      <p:font typeface="Crimson Text" panose="020B0604020202020204" charset="0"/>
      <p:regular r:id="rId12"/>
      <p:bold r:id="rId13"/>
      <p:italic r:id="rId14"/>
      <p:boldItalic r:id="rId15"/>
    </p:embeddedFont>
    <p:embeddedFont>
      <p:font typeface="Montserrat" panose="020B0604020202020204" charset="0"/>
      <p:regular r:id="rId16"/>
      <p:bold r:id="rId17"/>
      <p:italic r:id="rId18"/>
      <p:boldItalic r:id="rId19"/>
    </p:embeddedFont>
    <p:embeddedFont>
      <p:font typeface="Vidaloka" panose="020B0604020202020204" charset="0"/>
      <p:regular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72E98CB-8F3C-4257-BF64-1F79837B3F13}">
  <a:tblStyle styleId="{E72E98CB-8F3C-4257-BF64-1F79837B3F1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996" y="90"/>
      </p:cViewPr>
      <p:guideLst/>
    </p:cSldViewPr>
  </p:slideViewPr>
  <p:notesTextViewPr>
    <p:cViewPr>
      <p:scale>
        <a:sx n="1" d="1"/>
        <a:sy n="1" d="1"/>
      </p:scale>
      <p:origin x="0" y="0"/>
    </p:cViewPr>
  </p:notesTextViewPr>
  <p:notesViewPr>
    <p:cSldViewPr snapToGrid="0">
      <p:cViewPr varScale="1">
        <p:scale>
          <a:sx n="52" d="100"/>
          <a:sy n="52" d="100"/>
        </p:scale>
        <p:origin x="294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6BA8ED-A14F-4AB4-9A5F-59B8D3FD6B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21A7481-EECF-4846-B5F9-A4B86FD5BA2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197702-F663-4025-87F9-253979EF1EF0}" type="datetimeFigureOut">
              <a:rPr lang="en-US" smtClean="0"/>
              <a:t>9/25/2026</a:t>
            </a:fld>
            <a:endParaRPr lang="en-US"/>
          </a:p>
        </p:txBody>
      </p:sp>
      <p:sp>
        <p:nvSpPr>
          <p:cNvPr id="4" name="Footer Placeholder 3">
            <a:extLst>
              <a:ext uri="{FF2B5EF4-FFF2-40B4-BE49-F238E27FC236}">
                <a16:creationId xmlns:a16="http://schemas.microsoft.com/office/drawing/2014/main" id="{DBEDFC2E-3B03-4E89-9920-9F33423134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AA320C5-C773-42C3-8AD8-05E2CE0C5C8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BD41DC-9C7C-4199-8490-DC77DAA764CD}" type="slidenum">
              <a:rPr lang="en-US" smtClean="0"/>
              <a:t>‹#›</a:t>
            </a:fld>
            <a:endParaRPr lang="en-US"/>
          </a:p>
        </p:txBody>
      </p:sp>
    </p:spTree>
    <p:extLst>
      <p:ext uri="{BB962C8B-B14F-4D97-AF65-F5344CB8AC3E}">
        <p14:creationId xmlns:p14="http://schemas.microsoft.com/office/powerpoint/2010/main" val="12216788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105aad17dc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105aad17dc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105aad17dc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105aad17dc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0185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cc7554a049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cc7554a049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5440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7200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1" name="Google Shape;91;p14"/>
          <p:cNvSpPr txBox="1">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a:spLocks noGrp="1"/>
          </p:cNvSpPr>
          <p:nvPr>
            <p:ph type="subTitle" idx="1"/>
          </p:nvPr>
        </p:nvSpPr>
        <p:spPr>
          <a:xfrm>
            <a:off x="720000" y="2081199"/>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4"/>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4" name="Google Shape;94;p14"/>
          <p:cNvSpPr txBox="1">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a:spLocks noGrp="1"/>
          </p:cNvSpPr>
          <p:nvPr>
            <p:ph type="subTitle" idx="5"/>
          </p:nvPr>
        </p:nvSpPr>
        <p:spPr>
          <a:xfrm>
            <a:off x="34038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6" name="Google Shape;96;p14"/>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7" name="Google Shape;97;p14"/>
          <p:cNvSpPr txBox="1">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a:spLocks noGrp="1"/>
          </p:cNvSpPr>
          <p:nvPr>
            <p:ph type="subTitle" idx="8"/>
          </p:nvPr>
        </p:nvSpPr>
        <p:spPr>
          <a:xfrm>
            <a:off x="60876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9" name="Google Shape;99;p14"/>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0" name="Google Shape;100;p14"/>
          <p:cNvSpPr txBox="1">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a:spLocks noGrp="1"/>
          </p:cNvSpPr>
          <p:nvPr>
            <p:ph type="subTitle" idx="14"/>
          </p:nvPr>
        </p:nvSpPr>
        <p:spPr>
          <a:xfrm>
            <a:off x="7200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idx="15"/>
          </p:nvPr>
        </p:nvSpPr>
        <p:spPr>
          <a:xfrm>
            <a:off x="34038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3" name="Google Shape;103;p14"/>
          <p:cNvSpPr txBox="1">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a:spLocks noGrp="1"/>
          </p:cNvSpPr>
          <p:nvPr>
            <p:ph type="subTitle" idx="17"/>
          </p:nvPr>
        </p:nvSpPr>
        <p:spPr>
          <a:xfrm>
            <a:off x="34038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 name="Google Shape;105;p14"/>
          <p:cNvSpPr txBox="1">
            <a:spLocks noGrp="1"/>
          </p:cNvSpPr>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 name="Google Shape;106;p14"/>
          <p:cNvSpPr txBox="1">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a:spLocks noGrp="1"/>
          </p:cNvSpPr>
          <p:nvPr>
            <p:ph type="subTitle" idx="20"/>
          </p:nvPr>
        </p:nvSpPr>
        <p:spPr>
          <a:xfrm>
            <a:off x="60876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 name="Google Shape;108;p14"/>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09" name="Google Shape;109;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0" name="Google Shape;110;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1" name="Google Shape;111;p1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12" name="Google Shape;112;p1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20" name="Google Shape;120;p16"/>
          <p:cNvSpPr txBox="1">
            <a:spLocks noGrp="1"/>
          </p:cNvSpPr>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1">
  <p:cSld name="SECTION_TITLE_AND_DESCRIPTION_1">
    <p:spTree>
      <p:nvGrpSpPr>
        <p:cNvPr id="1" name="Shape 132"/>
        <p:cNvGrpSpPr/>
        <p:nvPr/>
      </p:nvGrpSpPr>
      <p:grpSpPr>
        <a:xfrm>
          <a:off x="0" y="0"/>
          <a:ext cx="0" cy="0"/>
          <a:chOff x="0" y="0"/>
          <a:chExt cx="0" cy="0"/>
        </a:xfrm>
      </p:grpSpPr>
      <p:sp>
        <p:nvSpPr>
          <p:cNvPr id="133" name="Google Shape;133;p18"/>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a:endParaRPr/>
          </a:p>
        </p:txBody>
      </p:sp>
      <p:sp>
        <p:nvSpPr>
          <p:cNvPr id="134" name="Google Shape;134;p18"/>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135" name="Google Shape;135;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7" name="Google Shape;137;p18"/>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8"/>
        <p:cNvGrpSpPr/>
        <p:nvPr/>
      </p:nvGrpSpPr>
      <p:grpSpPr>
        <a:xfrm>
          <a:off x="0" y="0"/>
          <a:ext cx="0" cy="0"/>
          <a:chOff x="0" y="0"/>
          <a:chExt cx="0" cy="0"/>
        </a:xfrm>
      </p:grpSpPr>
      <p:sp>
        <p:nvSpPr>
          <p:cNvPr id="139" name="Google Shape;139;p19"/>
          <p:cNvSpPr txBox="1">
            <a:spLocks noGrp="1"/>
          </p:cNvSpPr>
          <p:nvPr>
            <p:ph type="title"/>
          </p:nvPr>
        </p:nvSpPr>
        <p:spPr>
          <a:xfrm>
            <a:off x="845550" y="1482825"/>
            <a:ext cx="7452900" cy="129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7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
        <p:nvSpPr>
          <p:cNvPr id="140" name="Google Shape;140;p19"/>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141" name="Google Shape;141;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7" name="Google Shape;457;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1" name="Google Shape;461;p5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5" name="Google Shape;465;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6" name="Google Shape;466;p5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9" name="Google Shape;469;p5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0" name="Google Shape;470;p5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1" name="Google Shape;471;p5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2" name="Google Shape;472;p5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3" name="Google Shape;473;p5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8" r:id="rId3"/>
    <p:sldLayoutId id="2147483660" r:id="rId4"/>
    <p:sldLayoutId id="2147483661" r:id="rId5"/>
    <p:sldLayoutId id="2147483662" r:id="rId6"/>
    <p:sldLayoutId id="2147483663" r:id="rId7"/>
    <p:sldLayoutId id="2147483664" r:id="rId8"/>
    <p:sldLayoutId id="2147483665" r:id="rId9"/>
    <p:sldLayoutId id="2147483697" r:id="rId10"/>
    <p:sldLayoutId id="2147483698" r:id="rId11"/>
    <p:sldLayoutId id="2147483699" r:id="rId12"/>
    <p:sldLayoutId id="214748370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pPr lvl="0"/>
            <a:r>
              <a:rPr lang="en-US" dirty="0"/>
              <a:t>Solution High-Level Design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anim calcmode="lin" valueType="num">
                                      <p:cBhvr additive="base">
                                        <p:cTn id="7" dur="1000"/>
                                        <p:tgtEl>
                                          <p:spTgt spid="48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63"/>
          <p:cNvSpPr txBox="1">
            <a:spLocks noGrp="1"/>
          </p:cNvSpPr>
          <p:nvPr>
            <p:ph type="title"/>
          </p:nvPr>
        </p:nvSpPr>
        <p:spPr>
          <a:xfrm>
            <a:off x="720000" y="1677218"/>
            <a:ext cx="2537550" cy="894532"/>
          </a:xfrm>
          <a:prstGeom prst="rect">
            <a:avLst/>
          </a:prstGeom>
        </p:spPr>
        <p:txBody>
          <a:bodyPr spcFirstLastPara="1" wrap="square" lIns="91425" tIns="91425" rIns="91425" bIns="91425" anchor="t" anchorCtr="0">
            <a:noAutofit/>
          </a:bodyPr>
          <a:lstStyle/>
          <a:p>
            <a:pPr lvl="0">
              <a:buSzPts val="1100"/>
            </a:pPr>
            <a:r>
              <a:rPr lang="en-US" sz="1800" dirty="0"/>
              <a:t>Business and Technical Objective</a:t>
            </a:r>
            <a:endParaRPr sz="1800" dirty="0"/>
          </a:p>
        </p:txBody>
      </p:sp>
      <p:sp>
        <p:nvSpPr>
          <p:cNvPr id="520" name="Google Shape;520;p63"/>
          <p:cNvSpPr txBox="1">
            <a:spLocks noGrp="1"/>
          </p:cNvSpPr>
          <p:nvPr>
            <p:ph type="title" idx="4"/>
          </p:nvPr>
        </p:nvSpPr>
        <p:spPr>
          <a:xfrm>
            <a:off x="4166400" y="1095325"/>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02</a:t>
            </a:r>
            <a:endParaRPr/>
          </a:p>
        </p:txBody>
      </p:sp>
      <p:sp>
        <p:nvSpPr>
          <p:cNvPr id="521" name="Google Shape;521;p63"/>
          <p:cNvSpPr txBox="1">
            <a:spLocks noGrp="1"/>
          </p:cNvSpPr>
          <p:nvPr>
            <p:ph type="title" idx="13"/>
          </p:nvPr>
        </p:nvSpPr>
        <p:spPr>
          <a:xfrm>
            <a:off x="1482600" y="271408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04</a:t>
            </a:r>
            <a:endParaRPr/>
          </a:p>
        </p:txBody>
      </p:sp>
      <p:sp>
        <p:nvSpPr>
          <p:cNvPr id="522" name="Google Shape;522;p63"/>
          <p:cNvSpPr txBox="1">
            <a:spLocks noGrp="1"/>
          </p:cNvSpPr>
          <p:nvPr>
            <p:ph type="title" idx="2"/>
          </p:nvPr>
        </p:nvSpPr>
        <p:spPr>
          <a:xfrm>
            <a:off x="1482600" y="1095325"/>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01</a:t>
            </a:r>
            <a:endParaRPr/>
          </a:p>
        </p:txBody>
      </p:sp>
      <p:sp>
        <p:nvSpPr>
          <p:cNvPr id="523" name="Google Shape;523;p63"/>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p>
            <a:pPr lvl="0">
              <a:buSzPts val="1100"/>
            </a:pPr>
            <a:r>
              <a:rPr lang="en-US" sz="1800" dirty="0"/>
              <a:t>Business and Technical Objective</a:t>
            </a:r>
            <a:endParaRPr sz="1800" dirty="0"/>
          </a:p>
        </p:txBody>
      </p:sp>
      <p:sp>
        <p:nvSpPr>
          <p:cNvPr id="525" name="Google Shape;525;p63"/>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p>
            <a:pPr lvl="0">
              <a:buSzPts val="1100"/>
            </a:pPr>
            <a:r>
              <a:rPr lang="en" sz="1800" dirty="0"/>
              <a:t>Data Source and Ingestion</a:t>
            </a:r>
            <a:endParaRPr dirty="0"/>
          </a:p>
        </p:txBody>
      </p:sp>
      <p:sp>
        <p:nvSpPr>
          <p:cNvPr id="526" name="Google Shape;526;p63"/>
          <p:cNvSpPr txBox="1">
            <a:spLocks noGrp="1"/>
          </p:cNvSpPr>
          <p:nvPr>
            <p:ph type="title" idx="7"/>
          </p:nvPr>
        </p:nvSpPr>
        <p:spPr>
          <a:xfrm>
            <a:off x="6850200" y="1095325"/>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03</a:t>
            </a:r>
            <a:endParaRPr/>
          </a:p>
        </p:txBody>
      </p:sp>
      <p:sp>
        <p:nvSpPr>
          <p:cNvPr id="527" name="Google Shape;527;p63"/>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p>
            <a:pPr lvl="0">
              <a:buSzPts val="1100"/>
            </a:pPr>
            <a:r>
              <a:rPr lang="en" sz="1800" dirty="0"/>
              <a:t>Technical Architecture</a:t>
            </a:r>
            <a:endParaRPr sz="1800" dirty="0"/>
          </a:p>
        </p:txBody>
      </p:sp>
      <p:sp>
        <p:nvSpPr>
          <p:cNvPr id="529" name="Google Shape;529;p63"/>
          <p:cNvSpPr txBox="1">
            <a:spLocks noGrp="1"/>
          </p:cNvSpPr>
          <p:nvPr>
            <p:ph type="title" idx="15"/>
          </p:nvPr>
        </p:nvSpPr>
        <p:spPr>
          <a:xfrm>
            <a:off x="3403800" y="3313579"/>
            <a:ext cx="2683800" cy="734596"/>
          </a:xfrm>
          <a:prstGeom prst="rect">
            <a:avLst/>
          </a:prstGeom>
        </p:spPr>
        <p:txBody>
          <a:bodyPr spcFirstLastPara="1" wrap="square" lIns="91425" tIns="91425" rIns="91425" bIns="91425" anchor="t" anchorCtr="0">
            <a:noAutofit/>
          </a:bodyPr>
          <a:lstStyle/>
          <a:p>
            <a:pPr lvl="0">
              <a:buSzPts val="1100"/>
            </a:pPr>
            <a:r>
              <a:rPr lang="en-US" sz="1800" dirty="0"/>
              <a:t>Data Processing Flow</a:t>
            </a:r>
            <a:endParaRPr dirty="0"/>
          </a:p>
        </p:txBody>
      </p:sp>
      <p:sp>
        <p:nvSpPr>
          <p:cNvPr id="530" name="Google Shape;530;p63"/>
          <p:cNvSpPr txBox="1">
            <a:spLocks noGrp="1"/>
          </p:cNvSpPr>
          <p:nvPr>
            <p:ph type="title" idx="16"/>
          </p:nvPr>
        </p:nvSpPr>
        <p:spPr>
          <a:xfrm>
            <a:off x="4166400" y="271408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05</a:t>
            </a:r>
            <a:endParaRPr dirty="0"/>
          </a:p>
        </p:txBody>
      </p:sp>
      <p:sp>
        <p:nvSpPr>
          <p:cNvPr id="532" name="Google Shape;532;p63"/>
          <p:cNvSpPr txBox="1">
            <a:spLocks noGrp="1"/>
          </p:cNvSpPr>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p>
            <a:pPr lvl="0"/>
            <a:r>
              <a:rPr lang="en-US" sz="1800" dirty="0"/>
              <a:t>Data Inconsistencies and Cleansing Strategy</a:t>
            </a:r>
            <a:endParaRPr sz="1800" dirty="0"/>
          </a:p>
        </p:txBody>
      </p:sp>
      <p:sp>
        <p:nvSpPr>
          <p:cNvPr id="533" name="Google Shape;533;p63"/>
          <p:cNvSpPr txBox="1">
            <a:spLocks noGrp="1"/>
          </p:cNvSpPr>
          <p:nvPr>
            <p:ph type="title" idx="19"/>
          </p:nvPr>
        </p:nvSpPr>
        <p:spPr>
          <a:xfrm>
            <a:off x="6850200" y="271408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06</a:t>
            </a:r>
            <a:endParaRPr dirty="0"/>
          </a:p>
        </p:txBody>
      </p:sp>
      <p:sp>
        <p:nvSpPr>
          <p:cNvPr id="535" name="Google Shape;535;p63"/>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535"/>
                                        </p:tgtEl>
                                        <p:attrNameLst>
                                          <p:attrName>style.visibility</p:attrName>
                                        </p:attrNameLst>
                                      </p:cBhvr>
                                      <p:to>
                                        <p:strVal val="visible"/>
                                      </p:to>
                                    </p:set>
                                    <p:anim calcmode="lin" valueType="num">
                                      <p:cBhvr additive="base">
                                        <p:cTn id="7" dur="1000"/>
                                        <p:tgtEl>
                                          <p:spTgt spid="535"/>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517"/>
                                        </p:tgtEl>
                                        <p:attrNameLst>
                                          <p:attrName>style.visibility</p:attrName>
                                        </p:attrNameLst>
                                      </p:cBhvr>
                                      <p:to>
                                        <p:strVal val="visible"/>
                                      </p:to>
                                    </p:set>
                                    <p:anim calcmode="lin" valueType="num">
                                      <p:cBhvr additive="base">
                                        <p:cTn id="12" dur="1000"/>
                                        <p:tgtEl>
                                          <p:spTgt spid="517"/>
                                        </p:tgtEl>
                                        <p:attrNameLst>
                                          <p:attrName>ppt_x</p:attrName>
                                        </p:attrNameLst>
                                      </p:cBhvr>
                                      <p:tavLst>
                                        <p:tav tm="0">
                                          <p:val>
                                            <p:strVal val="#ppt_x+1"/>
                                          </p:val>
                                        </p:tav>
                                        <p:tav tm="100000">
                                          <p:val>
                                            <p:strVal val="#ppt_x"/>
                                          </p:val>
                                        </p:tav>
                                      </p:tavLst>
                                    </p:anim>
                                  </p:childTnLst>
                                </p:cTn>
                              </p:par>
                              <p:par>
                                <p:cTn id="13" presetID="2" presetClass="entr" presetSubtype="2" fill="hold" nodeType="withEffect">
                                  <p:stCondLst>
                                    <p:cond delay="0"/>
                                  </p:stCondLst>
                                  <p:childTnLst>
                                    <p:set>
                                      <p:cBhvr>
                                        <p:cTn id="14" dur="1" fill="hold">
                                          <p:stCondLst>
                                            <p:cond delay="0"/>
                                          </p:stCondLst>
                                        </p:cTn>
                                        <p:tgtEl>
                                          <p:spTgt spid="522"/>
                                        </p:tgtEl>
                                        <p:attrNameLst>
                                          <p:attrName>style.visibility</p:attrName>
                                        </p:attrNameLst>
                                      </p:cBhvr>
                                      <p:to>
                                        <p:strVal val="visible"/>
                                      </p:to>
                                    </p:set>
                                    <p:anim calcmode="lin" valueType="num">
                                      <p:cBhvr additive="base">
                                        <p:cTn id="15" dur="1000"/>
                                        <p:tgtEl>
                                          <p:spTgt spid="522"/>
                                        </p:tgtEl>
                                        <p:attrNameLst>
                                          <p:attrName>ppt_x</p:attrName>
                                        </p:attrNameLst>
                                      </p:cBhvr>
                                      <p:tavLst>
                                        <p:tav tm="0">
                                          <p:val>
                                            <p:strVal val="#ppt_x+1"/>
                                          </p:val>
                                        </p:tav>
                                        <p:tav tm="100000">
                                          <p:val>
                                            <p:strVal val="#ppt_x"/>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520"/>
                                        </p:tgtEl>
                                        <p:attrNameLst>
                                          <p:attrName>style.visibility</p:attrName>
                                        </p:attrNameLst>
                                      </p:cBhvr>
                                      <p:to>
                                        <p:strVal val="visible"/>
                                      </p:to>
                                    </p:set>
                                    <p:anim calcmode="lin" valueType="num">
                                      <p:cBhvr additive="base">
                                        <p:cTn id="20" dur="1000"/>
                                        <p:tgtEl>
                                          <p:spTgt spid="520"/>
                                        </p:tgtEl>
                                        <p:attrNameLst>
                                          <p:attrName>ppt_x</p:attrName>
                                        </p:attrNameLst>
                                      </p:cBhvr>
                                      <p:tavLst>
                                        <p:tav tm="0">
                                          <p:val>
                                            <p:strVal val="#ppt_x+1"/>
                                          </p:val>
                                        </p:tav>
                                        <p:tav tm="100000">
                                          <p:val>
                                            <p:strVal val="#ppt_x"/>
                                          </p:val>
                                        </p:tav>
                                      </p:tavLst>
                                    </p:anim>
                                  </p:childTnLst>
                                </p:cTn>
                              </p:par>
                              <p:par>
                                <p:cTn id="21" presetID="2" presetClass="entr" presetSubtype="2" fill="hold" nodeType="withEffect">
                                  <p:stCondLst>
                                    <p:cond delay="0"/>
                                  </p:stCondLst>
                                  <p:childTnLst>
                                    <p:set>
                                      <p:cBhvr>
                                        <p:cTn id="22" dur="1" fill="hold">
                                          <p:stCondLst>
                                            <p:cond delay="0"/>
                                          </p:stCondLst>
                                        </p:cTn>
                                        <p:tgtEl>
                                          <p:spTgt spid="523"/>
                                        </p:tgtEl>
                                        <p:attrNameLst>
                                          <p:attrName>style.visibility</p:attrName>
                                        </p:attrNameLst>
                                      </p:cBhvr>
                                      <p:to>
                                        <p:strVal val="visible"/>
                                      </p:to>
                                    </p:set>
                                    <p:anim calcmode="lin" valueType="num">
                                      <p:cBhvr additive="base">
                                        <p:cTn id="23" dur="1000"/>
                                        <p:tgtEl>
                                          <p:spTgt spid="523"/>
                                        </p:tgtEl>
                                        <p:attrNameLst>
                                          <p:attrName>ppt_x</p:attrName>
                                        </p:attrNameLst>
                                      </p:cBhvr>
                                      <p:tavLst>
                                        <p:tav tm="0">
                                          <p:val>
                                            <p:strVal val="#ppt_x+1"/>
                                          </p:val>
                                        </p:tav>
                                        <p:tav tm="100000">
                                          <p:val>
                                            <p:strVal val="#ppt_x"/>
                                          </p:val>
                                        </p:tav>
                                      </p:tavLst>
                                    </p:anim>
                                  </p:childTnLst>
                                </p:cTn>
                              </p:par>
                              <p:par>
                                <p:cTn id="24" presetID="2" presetClass="entr" presetSubtype="2" fill="hold" nodeType="withEffect">
                                  <p:stCondLst>
                                    <p:cond delay="0"/>
                                  </p:stCondLst>
                                  <p:childTnLst>
                                    <p:set>
                                      <p:cBhvr>
                                        <p:cTn id="25" dur="1" fill="hold">
                                          <p:stCondLst>
                                            <p:cond delay="0"/>
                                          </p:stCondLst>
                                        </p:cTn>
                                        <p:tgtEl>
                                          <p:spTgt spid="525"/>
                                        </p:tgtEl>
                                        <p:attrNameLst>
                                          <p:attrName>style.visibility</p:attrName>
                                        </p:attrNameLst>
                                      </p:cBhvr>
                                      <p:to>
                                        <p:strVal val="visible"/>
                                      </p:to>
                                    </p:set>
                                    <p:anim calcmode="lin" valueType="num">
                                      <p:cBhvr additive="base">
                                        <p:cTn id="26" dur="1000"/>
                                        <p:tgtEl>
                                          <p:spTgt spid="525"/>
                                        </p:tgtEl>
                                        <p:attrNameLst>
                                          <p:attrName>ppt_x</p:attrName>
                                        </p:attrNameLst>
                                      </p:cBhvr>
                                      <p:tavLst>
                                        <p:tav tm="0">
                                          <p:val>
                                            <p:strVal val="#ppt_x+1"/>
                                          </p:val>
                                        </p:tav>
                                        <p:tav tm="100000">
                                          <p:val>
                                            <p:strVal val="#ppt_x"/>
                                          </p:val>
                                        </p:tav>
                                      </p:tavLst>
                                    </p:anim>
                                  </p:childTnLst>
                                </p:cTn>
                              </p:par>
                              <p:par>
                                <p:cTn id="27" presetID="2" presetClass="entr" presetSubtype="2" fill="hold" nodeType="withEffect">
                                  <p:stCondLst>
                                    <p:cond delay="0"/>
                                  </p:stCondLst>
                                  <p:childTnLst>
                                    <p:set>
                                      <p:cBhvr>
                                        <p:cTn id="28" dur="1" fill="hold">
                                          <p:stCondLst>
                                            <p:cond delay="0"/>
                                          </p:stCondLst>
                                        </p:cTn>
                                        <p:tgtEl>
                                          <p:spTgt spid="526"/>
                                        </p:tgtEl>
                                        <p:attrNameLst>
                                          <p:attrName>style.visibility</p:attrName>
                                        </p:attrNameLst>
                                      </p:cBhvr>
                                      <p:to>
                                        <p:strVal val="visible"/>
                                      </p:to>
                                    </p:set>
                                    <p:anim calcmode="lin" valueType="num">
                                      <p:cBhvr additive="base">
                                        <p:cTn id="29" dur="1000"/>
                                        <p:tgtEl>
                                          <p:spTgt spid="526"/>
                                        </p:tgtEl>
                                        <p:attrNameLst>
                                          <p:attrName>ppt_x</p:attrName>
                                        </p:attrNameLst>
                                      </p:cBhvr>
                                      <p:tavLst>
                                        <p:tav tm="0">
                                          <p:val>
                                            <p:strVal val="#ppt_x+1"/>
                                          </p:val>
                                        </p:tav>
                                        <p:tav tm="100000">
                                          <p:val>
                                            <p:strVal val="#ppt_x"/>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521"/>
                                        </p:tgtEl>
                                        <p:attrNameLst>
                                          <p:attrName>style.visibility</p:attrName>
                                        </p:attrNameLst>
                                      </p:cBhvr>
                                      <p:to>
                                        <p:strVal val="visible"/>
                                      </p:to>
                                    </p:set>
                                    <p:anim calcmode="lin" valueType="num">
                                      <p:cBhvr additive="base">
                                        <p:cTn id="34" dur="1000"/>
                                        <p:tgtEl>
                                          <p:spTgt spid="521"/>
                                        </p:tgtEl>
                                        <p:attrNameLst>
                                          <p:attrName>ppt_x</p:attrName>
                                        </p:attrNameLst>
                                      </p:cBhvr>
                                      <p:tavLst>
                                        <p:tav tm="0">
                                          <p:val>
                                            <p:strVal val="#ppt_x+1"/>
                                          </p:val>
                                        </p:tav>
                                        <p:tav tm="100000">
                                          <p:val>
                                            <p:strVal val="#ppt_x"/>
                                          </p:val>
                                        </p:tav>
                                      </p:tavLst>
                                    </p:anim>
                                  </p:childTnLst>
                                </p:cTn>
                              </p:par>
                              <p:par>
                                <p:cTn id="35" presetID="2" presetClass="entr" presetSubtype="2" fill="hold" nodeType="withEffect">
                                  <p:stCondLst>
                                    <p:cond delay="0"/>
                                  </p:stCondLst>
                                  <p:childTnLst>
                                    <p:set>
                                      <p:cBhvr>
                                        <p:cTn id="36" dur="1" fill="hold">
                                          <p:stCondLst>
                                            <p:cond delay="0"/>
                                          </p:stCondLst>
                                        </p:cTn>
                                        <p:tgtEl>
                                          <p:spTgt spid="527"/>
                                        </p:tgtEl>
                                        <p:attrNameLst>
                                          <p:attrName>style.visibility</p:attrName>
                                        </p:attrNameLst>
                                      </p:cBhvr>
                                      <p:to>
                                        <p:strVal val="visible"/>
                                      </p:to>
                                    </p:set>
                                    <p:anim calcmode="lin" valueType="num">
                                      <p:cBhvr additive="base">
                                        <p:cTn id="37" dur="1000"/>
                                        <p:tgtEl>
                                          <p:spTgt spid="527"/>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529"/>
                                        </p:tgtEl>
                                        <p:attrNameLst>
                                          <p:attrName>style.visibility</p:attrName>
                                        </p:attrNameLst>
                                      </p:cBhvr>
                                      <p:to>
                                        <p:strVal val="visible"/>
                                      </p:to>
                                    </p:set>
                                    <p:anim calcmode="lin" valueType="num">
                                      <p:cBhvr additive="base">
                                        <p:cTn id="42" dur="1000"/>
                                        <p:tgtEl>
                                          <p:spTgt spid="529"/>
                                        </p:tgtEl>
                                        <p:attrNameLst>
                                          <p:attrName>ppt_x</p:attrName>
                                        </p:attrNameLst>
                                      </p:cBhvr>
                                      <p:tavLst>
                                        <p:tav tm="0">
                                          <p:val>
                                            <p:strVal val="#ppt_x+1"/>
                                          </p:val>
                                        </p:tav>
                                        <p:tav tm="100000">
                                          <p:val>
                                            <p:strVal val="#ppt_x"/>
                                          </p:val>
                                        </p:tav>
                                      </p:tavLst>
                                    </p:anim>
                                  </p:childTnLst>
                                </p:cTn>
                              </p:par>
                              <p:par>
                                <p:cTn id="43" presetID="2" presetClass="entr" presetSubtype="2" fill="hold" nodeType="withEffect">
                                  <p:stCondLst>
                                    <p:cond delay="0"/>
                                  </p:stCondLst>
                                  <p:childTnLst>
                                    <p:set>
                                      <p:cBhvr>
                                        <p:cTn id="44" dur="1" fill="hold">
                                          <p:stCondLst>
                                            <p:cond delay="0"/>
                                          </p:stCondLst>
                                        </p:cTn>
                                        <p:tgtEl>
                                          <p:spTgt spid="530"/>
                                        </p:tgtEl>
                                        <p:attrNameLst>
                                          <p:attrName>style.visibility</p:attrName>
                                        </p:attrNameLst>
                                      </p:cBhvr>
                                      <p:to>
                                        <p:strVal val="visible"/>
                                      </p:to>
                                    </p:set>
                                    <p:anim calcmode="lin" valueType="num">
                                      <p:cBhvr additive="base">
                                        <p:cTn id="45" dur="1000"/>
                                        <p:tgtEl>
                                          <p:spTgt spid="530"/>
                                        </p:tgtEl>
                                        <p:attrNameLst>
                                          <p:attrName>ppt_x</p:attrName>
                                        </p:attrNameLst>
                                      </p:cBhvr>
                                      <p:tavLst>
                                        <p:tav tm="0">
                                          <p:val>
                                            <p:strVal val="#ppt_x+1"/>
                                          </p:val>
                                        </p:tav>
                                        <p:tav tm="100000">
                                          <p:val>
                                            <p:strVal val="#ppt_x"/>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fill="hold" nodeType="clickEffect">
                                  <p:stCondLst>
                                    <p:cond delay="0"/>
                                  </p:stCondLst>
                                  <p:childTnLst>
                                    <p:set>
                                      <p:cBhvr>
                                        <p:cTn id="49" dur="1" fill="hold">
                                          <p:stCondLst>
                                            <p:cond delay="0"/>
                                          </p:stCondLst>
                                        </p:cTn>
                                        <p:tgtEl>
                                          <p:spTgt spid="532"/>
                                        </p:tgtEl>
                                        <p:attrNameLst>
                                          <p:attrName>style.visibility</p:attrName>
                                        </p:attrNameLst>
                                      </p:cBhvr>
                                      <p:to>
                                        <p:strVal val="visible"/>
                                      </p:to>
                                    </p:set>
                                    <p:anim calcmode="lin" valueType="num">
                                      <p:cBhvr additive="base">
                                        <p:cTn id="50" dur="1000"/>
                                        <p:tgtEl>
                                          <p:spTgt spid="532"/>
                                        </p:tgtEl>
                                        <p:attrNameLst>
                                          <p:attrName>ppt_x</p:attrName>
                                        </p:attrNameLst>
                                      </p:cBhvr>
                                      <p:tavLst>
                                        <p:tav tm="0">
                                          <p:val>
                                            <p:strVal val="#ppt_x+1"/>
                                          </p:val>
                                        </p:tav>
                                        <p:tav tm="100000">
                                          <p:val>
                                            <p:strVal val="#ppt_x"/>
                                          </p:val>
                                        </p:tav>
                                      </p:tavLst>
                                    </p:anim>
                                  </p:childTnLst>
                                </p:cTn>
                              </p:par>
                              <p:par>
                                <p:cTn id="51" presetID="2" presetClass="entr" presetSubtype="2" fill="hold" nodeType="withEffect">
                                  <p:stCondLst>
                                    <p:cond delay="0"/>
                                  </p:stCondLst>
                                  <p:childTnLst>
                                    <p:set>
                                      <p:cBhvr>
                                        <p:cTn id="52" dur="1" fill="hold">
                                          <p:stCondLst>
                                            <p:cond delay="0"/>
                                          </p:stCondLst>
                                        </p:cTn>
                                        <p:tgtEl>
                                          <p:spTgt spid="533"/>
                                        </p:tgtEl>
                                        <p:attrNameLst>
                                          <p:attrName>style.visibility</p:attrName>
                                        </p:attrNameLst>
                                      </p:cBhvr>
                                      <p:to>
                                        <p:strVal val="visible"/>
                                      </p:to>
                                    </p:set>
                                    <p:anim calcmode="lin" valueType="num">
                                      <p:cBhvr additive="base">
                                        <p:cTn id="53" dur="1000"/>
                                        <p:tgtEl>
                                          <p:spTgt spid="53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64"/>
          <p:cNvSpPr txBox="1">
            <a:spLocks noGrp="1"/>
          </p:cNvSpPr>
          <p:nvPr>
            <p:ph type="title"/>
          </p:nvPr>
        </p:nvSpPr>
        <p:spPr>
          <a:xfrm>
            <a:off x="-502920" y="411480"/>
            <a:ext cx="6400800" cy="562753"/>
          </a:xfrm>
          <a:prstGeom prst="rect">
            <a:avLst/>
          </a:prstGeom>
        </p:spPr>
        <p:txBody>
          <a:bodyPr spcFirstLastPara="1" wrap="square" lIns="91425" tIns="91425" rIns="91425" bIns="91425" anchor="t" anchorCtr="0">
            <a:noAutofit/>
          </a:bodyPr>
          <a:lstStyle/>
          <a:p>
            <a:pPr lvl="0"/>
            <a:r>
              <a:rPr lang="en-US" sz="2400" dirty="0">
                <a:latin typeface="+mj-lt"/>
              </a:rPr>
              <a:t>Business and Technical Objective</a:t>
            </a:r>
            <a:endParaRPr sz="2400" dirty="0">
              <a:latin typeface="+mj-lt"/>
            </a:endParaRPr>
          </a:p>
        </p:txBody>
      </p:sp>
      <p:sp>
        <p:nvSpPr>
          <p:cNvPr id="541" name="Google Shape;541;p64"/>
          <p:cNvSpPr txBox="1">
            <a:spLocks noGrp="1"/>
          </p:cNvSpPr>
          <p:nvPr>
            <p:ph type="subTitle" idx="1"/>
          </p:nvPr>
        </p:nvSpPr>
        <p:spPr>
          <a:xfrm>
            <a:off x="720090" y="880110"/>
            <a:ext cx="8263890" cy="2205990"/>
          </a:xfrm>
          <a:prstGeom prst="rect">
            <a:avLst/>
          </a:prstGeom>
        </p:spPr>
        <p:txBody>
          <a:bodyPr spcFirstLastPara="1" wrap="square" lIns="91425" tIns="91425" rIns="91425" bIns="91425" anchor="t" anchorCtr="0">
            <a:noAutofit/>
          </a:bodyPr>
          <a:lstStyle/>
          <a:p>
            <a:pPr algn="l"/>
            <a:r>
              <a:rPr lang="en-US" sz="1900" b="1" dirty="0">
                <a:latin typeface="+mj-lt"/>
              </a:rPr>
              <a:t>Business objective</a:t>
            </a:r>
            <a:endParaRPr lang="en-US" sz="1900" dirty="0">
              <a:latin typeface="+mj-lt"/>
            </a:endParaRPr>
          </a:p>
          <a:p>
            <a:pPr algn="l"/>
            <a:r>
              <a:rPr lang="en-US" sz="1900" dirty="0">
                <a:latin typeface="+mj-lt"/>
              </a:rPr>
              <a:t>Create an automated data platform that processes monthly order files and provides trusted data for the MVP dashboard.</a:t>
            </a:r>
          </a:p>
          <a:p>
            <a:pPr algn="l"/>
            <a:endParaRPr lang="en-US" sz="1900" dirty="0">
              <a:latin typeface="+mj-lt"/>
            </a:endParaRPr>
          </a:p>
          <a:p>
            <a:pPr algn="l"/>
            <a:r>
              <a:rPr lang="en-US" sz="1900" b="1" dirty="0">
                <a:latin typeface="+mj-lt"/>
              </a:rPr>
              <a:t>Dashboard requirements</a:t>
            </a:r>
            <a:endParaRPr lang="en-US" sz="1900" dirty="0">
              <a:latin typeface="+mj-lt"/>
            </a:endParaRPr>
          </a:p>
          <a:p>
            <a:pPr algn="l"/>
            <a:r>
              <a:rPr lang="en-US" sz="1900" dirty="0">
                <a:latin typeface="+mj-lt"/>
              </a:rPr>
              <a:t>Average price dynamics for best-selling products.</a:t>
            </a:r>
          </a:p>
          <a:p>
            <a:pPr algn="l"/>
            <a:r>
              <a:rPr lang="en-US" sz="1900" dirty="0">
                <a:latin typeface="+mj-lt"/>
              </a:rPr>
              <a:t>Sales dynamics by state </a:t>
            </a:r>
          </a:p>
          <a:p>
            <a:pPr algn="l"/>
            <a:r>
              <a:rPr lang="en-US" sz="1900" dirty="0">
                <a:latin typeface="+mj-lt"/>
              </a:rPr>
              <a:t>Best customers by segment </a:t>
            </a:r>
          </a:p>
          <a:p>
            <a:pPr algn="l"/>
            <a:r>
              <a:rPr lang="en-US" sz="1900" dirty="0">
                <a:latin typeface="+mj-lt"/>
              </a:rPr>
              <a:t>Top/Bottom products by sales and state </a:t>
            </a:r>
          </a:p>
          <a:p>
            <a:pPr algn="l"/>
            <a:r>
              <a:rPr lang="en-US" sz="1900" dirty="0">
                <a:latin typeface="+mj-lt"/>
              </a:rPr>
              <a:t>Top/Bottom products by delivery time and state </a:t>
            </a:r>
          </a:p>
          <a:p>
            <a:pPr algn="l"/>
            <a:r>
              <a:rPr lang="en-US" sz="1900" b="1" dirty="0">
                <a:latin typeface="+mj-lt"/>
              </a:rPr>
              <a:t>Source</a:t>
            </a:r>
            <a:endParaRPr lang="en-US" sz="1900" dirty="0">
              <a:latin typeface="+mj-lt"/>
            </a:endParaRPr>
          </a:p>
          <a:p>
            <a:pPr algn="l"/>
            <a:r>
              <a:rPr lang="en-US" sz="1900" dirty="0">
                <a:latin typeface="+mj-lt"/>
              </a:rPr>
              <a:t>Monthly order files containing transactional sales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title"/>
          </p:nvPr>
        </p:nvSpPr>
        <p:spPr>
          <a:xfrm>
            <a:off x="699899" y="307341"/>
            <a:ext cx="5060821" cy="5664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n-lt"/>
              </a:rPr>
              <a:t>Data Source and Ingestion</a:t>
            </a:r>
            <a:endParaRPr dirty="0">
              <a:latin typeface="+mn-lt"/>
            </a:endParaRPr>
          </a:p>
        </p:txBody>
      </p:sp>
      <p:sp>
        <p:nvSpPr>
          <p:cNvPr id="547" name="Google Shape;547;p65"/>
          <p:cNvSpPr txBox="1">
            <a:spLocks noGrp="1"/>
          </p:cNvSpPr>
          <p:nvPr>
            <p:ph type="subTitle" idx="1"/>
          </p:nvPr>
        </p:nvSpPr>
        <p:spPr>
          <a:xfrm>
            <a:off x="-40640" y="1097280"/>
            <a:ext cx="9184640" cy="3738880"/>
          </a:xfrm>
          <a:prstGeom prst="rect">
            <a:avLst/>
          </a:prstGeom>
        </p:spPr>
        <p:txBody>
          <a:bodyPr spcFirstLastPara="1" wrap="square" lIns="91425" tIns="91425" rIns="91425" bIns="91425" anchor="t" anchorCtr="0">
            <a:noAutofit/>
          </a:bodyPr>
          <a:lstStyle/>
          <a:p>
            <a:pPr marL="0" lvl="0" indent="0">
              <a:spcAft>
                <a:spcPts val="1200"/>
              </a:spcAft>
            </a:pPr>
            <a:r>
              <a:rPr lang="en-US" sz="1400" dirty="0">
                <a:latin typeface="+mn-lt"/>
              </a:rPr>
              <a:t>The initial source system is an SFTP server, where order files arrive periodically. Each file contains the source month and load timestamp in its filename, and multiple versions of the same source-month file may be delivered during the month..</a:t>
            </a:r>
          </a:p>
          <a:p>
            <a:pPr marL="0" lvl="0" indent="0">
              <a:spcAft>
                <a:spcPts val="1200"/>
              </a:spcAft>
            </a:pPr>
            <a:r>
              <a:rPr lang="en-US" sz="1400" dirty="0">
                <a:latin typeface="+mn-lt"/>
              </a:rPr>
              <a:t>Best practice may include using cloud staging layer used to decouple file transfer from downstream data processing. It also maintains a permanent raw copy of the source files, and leaves a permanent raw backup.</a:t>
            </a:r>
          </a:p>
          <a:p>
            <a:pPr marL="0" lvl="0" indent="0">
              <a:spcAft>
                <a:spcPts val="1200"/>
              </a:spcAft>
            </a:pPr>
            <a:r>
              <a:rPr lang="en-US" sz="1400" dirty="0">
                <a:latin typeface="+mn-lt"/>
              </a:rPr>
              <a:t>two essential steps in this process:</a:t>
            </a:r>
          </a:p>
          <a:p>
            <a:pPr marL="0" lvl="0" indent="0">
              <a:spcAft>
                <a:spcPts val="1200"/>
              </a:spcAft>
            </a:pPr>
            <a:r>
              <a:rPr lang="en-US" sz="1400" dirty="0">
                <a:latin typeface="+mn-lt"/>
              </a:rPr>
              <a:t>1-File Ingestion</a:t>
            </a:r>
            <a:br>
              <a:rPr lang="en-US" sz="1400" dirty="0">
                <a:latin typeface="+mn-lt"/>
              </a:rPr>
            </a:br>
            <a:r>
              <a:rPr lang="en-US" sz="1400" dirty="0">
                <a:latin typeface="+mn-lt"/>
              </a:rPr>
              <a:t>New files are detected automatically on the SFTP server and transferred to cloud storage (staging) using a Python-based ingestion process.</a:t>
            </a:r>
          </a:p>
          <a:p>
            <a:pPr marL="0" lvl="0" indent="0">
              <a:spcAft>
                <a:spcPts val="1200"/>
              </a:spcAft>
            </a:pPr>
            <a:r>
              <a:rPr lang="en-US" sz="1400" dirty="0">
                <a:latin typeface="+mn-lt"/>
              </a:rPr>
              <a:t>2-Data Processing and Loading</a:t>
            </a:r>
            <a:br>
              <a:rPr lang="en-US" sz="1400" dirty="0">
                <a:latin typeface="+mn-lt"/>
              </a:rPr>
            </a:br>
            <a:r>
              <a:rPr lang="en-US" sz="1400" dirty="0">
                <a:latin typeface="+mn-lt"/>
              </a:rPr>
              <a:t>An automated pipeline processes the staged files by Validating file structure and schema, Performing data-quality checks, Cleaning and standardizing the data then finally loading the cleansed data into the Data Warehouse</a:t>
            </a:r>
          </a:p>
          <a:p>
            <a:pPr marL="0" lvl="0" indent="0">
              <a:spcAft>
                <a:spcPts val="1200"/>
              </a:spcAft>
            </a:pPr>
            <a:endParaRPr sz="1400"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6"/>
                                        </p:tgtEl>
                                        <p:attrNameLst>
                                          <p:attrName>style.visibility</p:attrName>
                                        </p:attrNameLst>
                                      </p:cBhvr>
                                      <p:to>
                                        <p:strVal val="visible"/>
                                      </p:to>
                                    </p:set>
                                    <p:anim calcmode="lin" valueType="num">
                                      <p:cBhvr additive="base">
                                        <p:cTn id="7" dur="1000"/>
                                        <p:tgtEl>
                                          <p:spTgt spid="546"/>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547"/>
                                        </p:tgtEl>
                                        <p:attrNameLst>
                                          <p:attrName>style.visibility</p:attrName>
                                        </p:attrNameLst>
                                      </p:cBhvr>
                                      <p:to>
                                        <p:strVal val="visible"/>
                                      </p:to>
                                    </p:set>
                                    <p:anim calcmode="lin" valueType="num">
                                      <p:cBhvr additive="base">
                                        <p:cTn id="10" dur="1000"/>
                                        <p:tgtEl>
                                          <p:spTgt spid="54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3" name="Google Shape;553;p66"/>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lvl="0"/>
            <a:r>
              <a:rPr lang="en" dirty="0"/>
              <a:t>Technical Architecture</a:t>
            </a:r>
            <a:endParaRPr dirty="0">
              <a:latin typeface="+mn-lt"/>
            </a:endParaRPr>
          </a:p>
        </p:txBody>
      </p:sp>
      <p:sp>
        <p:nvSpPr>
          <p:cNvPr id="2" name="Rectangle 1">
            <a:extLst>
              <a:ext uri="{FF2B5EF4-FFF2-40B4-BE49-F238E27FC236}">
                <a16:creationId xmlns:a16="http://schemas.microsoft.com/office/drawing/2014/main" id="{EF277E62-BE2B-47B5-9A83-A11FB82487D2}"/>
              </a:ext>
            </a:extLst>
          </p:cNvPr>
          <p:cNvSpPr/>
          <p:nvPr/>
        </p:nvSpPr>
        <p:spPr>
          <a:xfrm>
            <a:off x="377190" y="1211580"/>
            <a:ext cx="1211580" cy="9944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Connector: Elbow 3">
            <a:extLst>
              <a:ext uri="{FF2B5EF4-FFF2-40B4-BE49-F238E27FC236}">
                <a16:creationId xmlns:a16="http://schemas.microsoft.com/office/drawing/2014/main" id="{A66D306C-7E6D-4EFB-ADEF-CE21A5924CF2}"/>
              </a:ext>
            </a:extLst>
          </p:cNvPr>
          <p:cNvCxnSpPr>
            <a:cxnSpLocks/>
          </p:cNvCxnSpPr>
          <p:nvPr/>
        </p:nvCxnSpPr>
        <p:spPr>
          <a:xfrm rot="16200000" flipH="1">
            <a:off x="1321782" y="1112377"/>
            <a:ext cx="1360605" cy="82662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7ED7493-F797-4B4B-A1F2-08D558313BE0}"/>
              </a:ext>
            </a:extLst>
          </p:cNvPr>
          <p:cNvSpPr/>
          <p:nvPr/>
        </p:nvSpPr>
        <p:spPr>
          <a:xfrm>
            <a:off x="1735529" y="2363447"/>
            <a:ext cx="1211579" cy="10181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8B260E5-E6CF-4C86-8320-CFC0DF304E59}"/>
              </a:ext>
            </a:extLst>
          </p:cNvPr>
          <p:cNvSpPr/>
          <p:nvPr/>
        </p:nvSpPr>
        <p:spPr>
          <a:xfrm>
            <a:off x="5517025" y="1999459"/>
            <a:ext cx="1211580" cy="9944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DWH</a:t>
            </a:r>
          </a:p>
        </p:txBody>
      </p:sp>
      <p:sp>
        <p:nvSpPr>
          <p:cNvPr id="15" name="Rectangle 14">
            <a:extLst>
              <a:ext uri="{FF2B5EF4-FFF2-40B4-BE49-F238E27FC236}">
                <a16:creationId xmlns:a16="http://schemas.microsoft.com/office/drawing/2014/main" id="{A48694D4-C52D-4F4A-BFEF-AE4C7BBA0237}"/>
              </a:ext>
            </a:extLst>
          </p:cNvPr>
          <p:cNvSpPr/>
          <p:nvPr/>
        </p:nvSpPr>
        <p:spPr>
          <a:xfrm>
            <a:off x="4911240" y="3381556"/>
            <a:ext cx="1035169" cy="10181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7B76F4C-B8A8-418D-8B7B-96BDF945355B}"/>
              </a:ext>
            </a:extLst>
          </p:cNvPr>
          <p:cNvSpPr/>
          <p:nvPr/>
        </p:nvSpPr>
        <p:spPr>
          <a:xfrm flipH="1">
            <a:off x="3021183" y="3381556"/>
            <a:ext cx="1211578" cy="9944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25072E8-69DA-4B19-BDF6-9F8B58C0EBD1}"/>
              </a:ext>
            </a:extLst>
          </p:cNvPr>
          <p:cNvSpPr/>
          <p:nvPr/>
        </p:nvSpPr>
        <p:spPr>
          <a:xfrm>
            <a:off x="7268673" y="1017725"/>
            <a:ext cx="1162102" cy="9944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BI</a:t>
            </a:r>
          </a:p>
        </p:txBody>
      </p:sp>
      <p:cxnSp>
        <p:nvCxnSpPr>
          <p:cNvPr id="27" name="Connector: Elbow 26">
            <a:extLst>
              <a:ext uri="{FF2B5EF4-FFF2-40B4-BE49-F238E27FC236}">
                <a16:creationId xmlns:a16="http://schemas.microsoft.com/office/drawing/2014/main" id="{E92E6EAC-D0AE-451E-8340-A6F8E819F58E}"/>
              </a:ext>
            </a:extLst>
          </p:cNvPr>
          <p:cNvCxnSpPr>
            <a:stCxn id="13" idx="3"/>
            <a:endCxn id="16" idx="0"/>
          </p:cNvCxnSpPr>
          <p:nvPr/>
        </p:nvCxnSpPr>
        <p:spPr>
          <a:xfrm>
            <a:off x="2947108" y="2872502"/>
            <a:ext cx="679864" cy="50905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F6A62C0-5C3F-4138-8437-E4D9B5DBE33D}"/>
              </a:ext>
            </a:extLst>
          </p:cNvPr>
          <p:cNvCxnSpPr>
            <a:cxnSpLocks/>
            <a:endCxn id="15" idx="1"/>
          </p:cNvCxnSpPr>
          <p:nvPr/>
        </p:nvCxnSpPr>
        <p:spPr>
          <a:xfrm>
            <a:off x="4306836" y="3890611"/>
            <a:ext cx="6044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B0F6CB2F-F7E5-44C1-828F-728D00309787}"/>
              </a:ext>
            </a:extLst>
          </p:cNvPr>
          <p:cNvCxnSpPr>
            <a:cxnSpLocks/>
            <a:endCxn id="14" idx="2"/>
          </p:cNvCxnSpPr>
          <p:nvPr/>
        </p:nvCxnSpPr>
        <p:spPr>
          <a:xfrm rot="5400000" flipH="1" flipV="1">
            <a:off x="5659614" y="3280665"/>
            <a:ext cx="749996" cy="17640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E87B2EE0-1B69-478A-BC37-CF7F30D701A6}"/>
              </a:ext>
            </a:extLst>
          </p:cNvPr>
          <p:cNvCxnSpPr>
            <a:cxnSpLocks/>
            <a:endCxn id="18" idx="2"/>
          </p:cNvCxnSpPr>
          <p:nvPr/>
        </p:nvCxnSpPr>
        <p:spPr>
          <a:xfrm flipV="1">
            <a:off x="6728605" y="2012135"/>
            <a:ext cx="1121119" cy="5596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ED507768-3907-4DAD-8BD5-6620E3DA761A}"/>
              </a:ext>
            </a:extLst>
          </p:cNvPr>
          <p:cNvSpPr txBox="1"/>
          <p:nvPr/>
        </p:nvSpPr>
        <p:spPr>
          <a:xfrm>
            <a:off x="1735527" y="2491610"/>
            <a:ext cx="1285656" cy="954107"/>
          </a:xfrm>
          <a:prstGeom prst="rect">
            <a:avLst/>
          </a:prstGeom>
          <a:noFill/>
        </p:spPr>
        <p:txBody>
          <a:bodyPr wrap="square" rtlCol="0">
            <a:spAutoFit/>
          </a:bodyPr>
          <a:lstStyle/>
          <a:p>
            <a:r>
              <a:rPr lang="en-US" dirty="0"/>
              <a:t>Cloud Storage: Azure Date Lake Storage</a:t>
            </a:r>
          </a:p>
        </p:txBody>
      </p:sp>
      <p:sp>
        <p:nvSpPr>
          <p:cNvPr id="44" name="TextBox 43">
            <a:extLst>
              <a:ext uri="{FF2B5EF4-FFF2-40B4-BE49-F238E27FC236}">
                <a16:creationId xmlns:a16="http://schemas.microsoft.com/office/drawing/2014/main" id="{6D2C55CE-5CF5-42E2-991B-E20DCE723143}"/>
              </a:ext>
            </a:extLst>
          </p:cNvPr>
          <p:cNvSpPr txBox="1"/>
          <p:nvPr/>
        </p:nvSpPr>
        <p:spPr>
          <a:xfrm>
            <a:off x="377188" y="1323414"/>
            <a:ext cx="1363983" cy="523220"/>
          </a:xfrm>
          <a:prstGeom prst="rect">
            <a:avLst/>
          </a:prstGeom>
          <a:noFill/>
        </p:spPr>
        <p:txBody>
          <a:bodyPr wrap="square" rtlCol="0">
            <a:spAutoFit/>
          </a:bodyPr>
          <a:lstStyle/>
          <a:p>
            <a:r>
              <a:rPr lang="en-US" dirty="0"/>
              <a:t>Source: CSV Monthly Files</a:t>
            </a:r>
          </a:p>
        </p:txBody>
      </p:sp>
      <p:sp>
        <p:nvSpPr>
          <p:cNvPr id="41" name="TextBox 40">
            <a:extLst>
              <a:ext uri="{FF2B5EF4-FFF2-40B4-BE49-F238E27FC236}">
                <a16:creationId xmlns:a16="http://schemas.microsoft.com/office/drawing/2014/main" id="{C9D10F07-551F-4887-9845-4B365A7373C9}"/>
              </a:ext>
            </a:extLst>
          </p:cNvPr>
          <p:cNvSpPr txBox="1"/>
          <p:nvPr/>
        </p:nvSpPr>
        <p:spPr>
          <a:xfrm>
            <a:off x="3021184" y="3445717"/>
            <a:ext cx="1284266" cy="738664"/>
          </a:xfrm>
          <a:prstGeom prst="rect">
            <a:avLst/>
          </a:prstGeom>
          <a:noFill/>
        </p:spPr>
        <p:txBody>
          <a:bodyPr wrap="square" rtlCol="0">
            <a:spAutoFit/>
          </a:bodyPr>
          <a:lstStyle/>
          <a:p>
            <a:r>
              <a:rPr lang="en-US" dirty="0"/>
              <a:t>Orchestration: Azure Data Factory</a:t>
            </a:r>
          </a:p>
        </p:txBody>
      </p:sp>
      <p:sp>
        <p:nvSpPr>
          <p:cNvPr id="42" name="TextBox 41">
            <a:extLst>
              <a:ext uri="{FF2B5EF4-FFF2-40B4-BE49-F238E27FC236}">
                <a16:creationId xmlns:a16="http://schemas.microsoft.com/office/drawing/2014/main" id="{3A67B8DD-2578-472F-B03B-990E87768E3F}"/>
              </a:ext>
            </a:extLst>
          </p:cNvPr>
          <p:cNvSpPr txBox="1"/>
          <p:nvPr/>
        </p:nvSpPr>
        <p:spPr>
          <a:xfrm>
            <a:off x="4911240" y="3381551"/>
            <a:ext cx="1035169" cy="738664"/>
          </a:xfrm>
          <a:prstGeom prst="rect">
            <a:avLst/>
          </a:prstGeom>
          <a:noFill/>
        </p:spPr>
        <p:txBody>
          <a:bodyPr wrap="square" rtlCol="0">
            <a:spAutoFit/>
          </a:bodyPr>
          <a:lstStyle/>
          <a:p>
            <a:r>
              <a:rPr lang="en-US" dirty="0"/>
              <a:t>Transformation: Python</a:t>
            </a:r>
          </a:p>
        </p:txBody>
      </p:sp>
      <p:sp>
        <p:nvSpPr>
          <p:cNvPr id="43" name="TextBox 42">
            <a:extLst>
              <a:ext uri="{FF2B5EF4-FFF2-40B4-BE49-F238E27FC236}">
                <a16:creationId xmlns:a16="http://schemas.microsoft.com/office/drawing/2014/main" id="{B1D320B8-A357-4CA8-BC85-63E316C62FA4}"/>
              </a:ext>
            </a:extLst>
          </p:cNvPr>
          <p:cNvSpPr txBox="1"/>
          <p:nvPr/>
        </p:nvSpPr>
        <p:spPr>
          <a:xfrm>
            <a:off x="5517025" y="1999460"/>
            <a:ext cx="1211575" cy="954107"/>
          </a:xfrm>
          <a:prstGeom prst="rect">
            <a:avLst/>
          </a:prstGeom>
          <a:noFill/>
        </p:spPr>
        <p:txBody>
          <a:bodyPr wrap="square" rtlCol="0">
            <a:spAutoFit/>
          </a:bodyPr>
          <a:lstStyle/>
          <a:p>
            <a:r>
              <a:rPr lang="en-US" dirty="0"/>
              <a:t>Data Warehouse: SQL Data Warehouse</a:t>
            </a:r>
          </a:p>
        </p:txBody>
      </p:sp>
      <p:sp>
        <p:nvSpPr>
          <p:cNvPr id="45" name="TextBox 44">
            <a:extLst>
              <a:ext uri="{FF2B5EF4-FFF2-40B4-BE49-F238E27FC236}">
                <a16:creationId xmlns:a16="http://schemas.microsoft.com/office/drawing/2014/main" id="{4DF4C9E8-B842-4975-87F7-748D9B1F7FA1}"/>
              </a:ext>
            </a:extLst>
          </p:cNvPr>
          <p:cNvSpPr txBox="1"/>
          <p:nvPr/>
        </p:nvSpPr>
        <p:spPr>
          <a:xfrm>
            <a:off x="7268669" y="1211580"/>
            <a:ext cx="1162102" cy="523220"/>
          </a:xfrm>
          <a:prstGeom prst="rect">
            <a:avLst/>
          </a:prstGeom>
          <a:noFill/>
        </p:spPr>
        <p:txBody>
          <a:bodyPr wrap="square" rtlCol="0">
            <a:spAutoFit/>
          </a:bodyPr>
          <a:lstStyle/>
          <a:p>
            <a:r>
              <a:rPr lang="en-US" dirty="0"/>
              <a:t>BI: Power BI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60" name="Google Shape;560;p6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latin typeface="+mj-lt"/>
              </a:rPr>
              <a:t>Data Processing Flow</a:t>
            </a:r>
            <a:endParaRPr dirty="0">
              <a:latin typeface="+mj-lt"/>
            </a:endParaRPr>
          </a:p>
        </p:txBody>
      </p:sp>
      <p:sp>
        <p:nvSpPr>
          <p:cNvPr id="5" name="Google Shape;559;p67">
            <a:extLst>
              <a:ext uri="{FF2B5EF4-FFF2-40B4-BE49-F238E27FC236}">
                <a16:creationId xmlns:a16="http://schemas.microsoft.com/office/drawing/2014/main" id="{68B9A8DC-8E0A-445A-BFF4-2AE806D64C44}"/>
              </a:ext>
            </a:extLst>
          </p:cNvPr>
          <p:cNvSpPr txBox="1">
            <a:spLocks/>
          </p:cNvSpPr>
          <p:nvPr/>
        </p:nvSpPr>
        <p:spPr>
          <a:xfrm>
            <a:off x="741872" y="724619"/>
            <a:ext cx="8143336" cy="36420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spc="0">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9pPr>
          </a:lstStyle>
          <a:p>
            <a:pPr marL="0" indent="0">
              <a:buClr>
                <a:schemeClr val="dk1"/>
              </a:buClr>
              <a:buSzPts val="1100"/>
              <a:buNone/>
            </a:pPr>
            <a:r>
              <a:rPr lang="en-US" b="1" dirty="0">
                <a:latin typeface="+mj-lt"/>
              </a:rPr>
              <a:t>1. File arrives</a:t>
            </a:r>
          </a:p>
          <a:p>
            <a:pPr marL="0" indent="0">
              <a:buClr>
                <a:schemeClr val="dk1"/>
              </a:buClr>
              <a:buSzPts val="1100"/>
              <a:buNone/>
            </a:pPr>
            <a:r>
              <a:rPr lang="en-US" b="1" dirty="0">
                <a:latin typeface="+mj-lt"/>
              </a:rPr>
              <a:t>       </a:t>
            </a:r>
          </a:p>
          <a:p>
            <a:pPr marL="0" indent="0">
              <a:buClr>
                <a:schemeClr val="dk1"/>
              </a:buClr>
              <a:buSzPts val="1100"/>
              <a:buNone/>
            </a:pPr>
            <a:r>
              <a:rPr lang="en-US" b="1" dirty="0">
                <a:latin typeface="+mj-lt"/>
              </a:rPr>
              <a:t>2. Validate filename</a:t>
            </a:r>
          </a:p>
          <a:p>
            <a:pPr marL="0" indent="0">
              <a:buClr>
                <a:schemeClr val="dk1"/>
              </a:buClr>
              <a:buSzPts val="1100"/>
              <a:buNone/>
            </a:pPr>
            <a:r>
              <a:rPr lang="en-US" b="1" dirty="0">
                <a:latin typeface="+mj-lt"/>
              </a:rPr>
              <a:t>       </a:t>
            </a:r>
          </a:p>
          <a:p>
            <a:pPr marL="0" indent="0">
              <a:buClr>
                <a:schemeClr val="dk1"/>
              </a:buClr>
              <a:buSzPts val="1100"/>
              <a:buNone/>
            </a:pPr>
            <a:r>
              <a:rPr lang="en-US" b="1" dirty="0">
                <a:latin typeface="+mj-lt"/>
              </a:rPr>
              <a:t>3. Check duplicate versions of files</a:t>
            </a:r>
          </a:p>
          <a:p>
            <a:pPr marL="0" indent="0">
              <a:buClr>
                <a:schemeClr val="dk1"/>
              </a:buClr>
              <a:buSzPts val="1100"/>
              <a:buNone/>
            </a:pPr>
            <a:r>
              <a:rPr lang="en-US" b="1" dirty="0">
                <a:latin typeface="+mj-lt"/>
              </a:rPr>
              <a:t>       </a:t>
            </a:r>
          </a:p>
          <a:p>
            <a:pPr marL="0" indent="0">
              <a:buClr>
                <a:schemeClr val="dk1"/>
              </a:buClr>
              <a:buSzPts val="1100"/>
              <a:buNone/>
            </a:pPr>
            <a:r>
              <a:rPr lang="en-US" b="1" dirty="0">
                <a:latin typeface="+mj-lt"/>
              </a:rPr>
              <a:t>4. Load RAW Data</a:t>
            </a:r>
          </a:p>
          <a:p>
            <a:pPr marL="0" indent="0">
              <a:buClr>
                <a:schemeClr val="dk1"/>
              </a:buClr>
              <a:buSzPts val="1100"/>
              <a:buNone/>
            </a:pPr>
            <a:r>
              <a:rPr lang="en-US" b="1" dirty="0">
                <a:latin typeface="+mj-lt"/>
              </a:rPr>
              <a:t>       </a:t>
            </a:r>
          </a:p>
          <a:p>
            <a:pPr marL="0" indent="0">
              <a:buClr>
                <a:schemeClr val="dk1"/>
              </a:buClr>
              <a:buSzPts val="1100"/>
              <a:buNone/>
            </a:pPr>
            <a:r>
              <a:rPr lang="en-US" b="1" dirty="0">
                <a:latin typeface="+mj-lt"/>
              </a:rPr>
              <a:t>5. Validate schema</a:t>
            </a:r>
          </a:p>
          <a:p>
            <a:pPr marL="0" indent="0">
              <a:buClr>
                <a:schemeClr val="dk1"/>
              </a:buClr>
              <a:buSzPts val="1100"/>
              <a:buNone/>
            </a:pPr>
            <a:r>
              <a:rPr lang="en-US" b="1" dirty="0">
                <a:latin typeface="+mj-lt"/>
              </a:rPr>
              <a:t>       </a:t>
            </a:r>
          </a:p>
          <a:p>
            <a:pPr marL="0" indent="0">
              <a:buClr>
                <a:schemeClr val="dk1"/>
              </a:buClr>
              <a:buSzPts val="1100"/>
              <a:buNone/>
            </a:pPr>
            <a:r>
              <a:rPr lang="en-US" b="1" dirty="0">
                <a:latin typeface="+mj-lt"/>
              </a:rPr>
              <a:t>6. Clean data</a:t>
            </a:r>
          </a:p>
          <a:p>
            <a:pPr marL="0" indent="0">
              <a:buClr>
                <a:schemeClr val="dk1"/>
              </a:buClr>
              <a:buSzPts val="1100"/>
              <a:buNone/>
            </a:pPr>
            <a:r>
              <a:rPr lang="en-US" b="1" dirty="0">
                <a:latin typeface="+mj-lt"/>
              </a:rPr>
              <a:t>       </a:t>
            </a:r>
          </a:p>
          <a:p>
            <a:pPr marL="0" indent="0">
              <a:buClr>
                <a:schemeClr val="dk1"/>
              </a:buClr>
              <a:buSzPts val="1100"/>
              <a:buNone/>
            </a:pPr>
            <a:r>
              <a:rPr lang="en-US" b="1" dirty="0">
                <a:latin typeface="+mj-lt"/>
              </a:rPr>
              <a:t>7. Deduplicate</a:t>
            </a:r>
          </a:p>
          <a:p>
            <a:pPr marL="0" indent="0">
              <a:buClr>
                <a:schemeClr val="dk1"/>
              </a:buClr>
              <a:buSzPts val="1100"/>
              <a:buNone/>
            </a:pPr>
            <a:r>
              <a:rPr lang="en-US" b="1" dirty="0">
                <a:latin typeface="+mj-lt"/>
              </a:rPr>
              <a:t>       </a:t>
            </a:r>
          </a:p>
          <a:p>
            <a:pPr marL="0" indent="0">
              <a:buClr>
                <a:schemeClr val="dk1"/>
              </a:buClr>
              <a:buSzPts val="1100"/>
              <a:buNone/>
            </a:pPr>
            <a:r>
              <a:rPr lang="en-US" b="1" dirty="0">
                <a:latin typeface="+mj-lt"/>
              </a:rPr>
              <a:t>8. Transform</a:t>
            </a:r>
          </a:p>
          <a:p>
            <a:pPr marL="0" indent="0">
              <a:buClr>
                <a:schemeClr val="dk1"/>
              </a:buClr>
              <a:buSzPts val="1100"/>
              <a:buNone/>
            </a:pPr>
            <a:r>
              <a:rPr lang="en-US" b="1" dirty="0">
                <a:latin typeface="+mj-lt"/>
              </a:rPr>
              <a:t>       </a:t>
            </a:r>
          </a:p>
          <a:p>
            <a:pPr marL="0" indent="0">
              <a:buClr>
                <a:schemeClr val="dk1"/>
              </a:buClr>
              <a:buSzPts val="1100"/>
              <a:buNone/>
            </a:pPr>
            <a:r>
              <a:rPr lang="en-US" b="1" dirty="0">
                <a:latin typeface="+mj-lt"/>
              </a:rPr>
              <a:t>9. Load DWH</a:t>
            </a:r>
          </a:p>
          <a:p>
            <a:pPr marL="0" indent="0">
              <a:buClr>
                <a:schemeClr val="dk1"/>
              </a:buClr>
              <a:buSzPts val="1100"/>
              <a:buNone/>
            </a:pPr>
            <a:r>
              <a:rPr lang="en-US" b="1" dirty="0">
                <a:latin typeface="+mj-lt"/>
              </a:rPr>
              <a:t>      </a:t>
            </a:r>
          </a:p>
          <a:p>
            <a:pPr marL="0" indent="0">
              <a:buClr>
                <a:schemeClr val="dk1"/>
              </a:buClr>
              <a:buSzPts val="1100"/>
              <a:buNone/>
            </a:pPr>
            <a:r>
              <a:rPr lang="en-US" b="1" dirty="0">
                <a:latin typeface="+mj-lt"/>
              </a:rPr>
              <a:t>10. Refresh BI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560"/>
                                        </p:tgtEl>
                                        <p:attrNameLst>
                                          <p:attrName>style.visibility</p:attrName>
                                        </p:attrNameLst>
                                      </p:cBhvr>
                                      <p:to>
                                        <p:strVal val="visible"/>
                                      </p:to>
                                    </p:set>
                                    <p:anim calcmode="lin" valueType="num">
                                      <p:cBhvr additive="base">
                                        <p:cTn id="7" dur="1000"/>
                                        <p:tgtEl>
                                          <p:spTgt spid="56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1000"/>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60" name="Google Shape;560;p6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latin typeface="+mj-lt"/>
              </a:rPr>
              <a:t>Data Warehouse Structure</a:t>
            </a:r>
            <a:endParaRPr dirty="0">
              <a:latin typeface="+mj-lt"/>
            </a:endParaRPr>
          </a:p>
        </p:txBody>
      </p:sp>
      <p:sp>
        <p:nvSpPr>
          <p:cNvPr id="5" name="Google Shape;559;p67">
            <a:extLst>
              <a:ext uri="{FF2B5EF4-FFF2-40B4-BE49-F238E27FC236}">
                <a16:creationId xmlns:a16="http://schemas.microsoft.com/office/drawing/2014/main" id="{68B9A8DC-8E0A-445A-BFF4-2AE806D64C44}"/>
              </a:ext>
            </a:extLst>
          </p:cNvPr>
          <p:cNvSpPr txBox="1">
            <a:spLocks/>
          </p:cNvSpPr>
          <p:nvPr/>
        </p:nvSpPr>
        <p:spPr>
          <a:xfrm>
            <a:off x="569343" y="1017725"/>
            <a:ext cx="8315865" cy="33489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spc="0">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1"/>
              </a:buClr>
              <a:buSzPts val="1400"/>
              <a:buFont typeface="Montserrat"/>
              <a:buChar char="■"/>
              <a:defRPr sz="1400" b="0" i="0" u="none" strike="noStrike" cap="none" spc="0">
                <a:solidFill>
                  <a:schemeClr val="dk2"/>
                </a:solidFill>
                <a:latin typeface="Montserrat"/>
                <a:ea typeface="Montserrat"/>
                <a:cs typeface="Montserrat"/>
                <a:sym typeface="Montserrat"/>
              </a:defRPr>
            </a:lvl9pPr>
          </a:lstStyle>
          <a:p>
            <a:pPr marL="114300" indent="0">
              <a:buNone/>
            </a:pPr>
            <a:r>
              <a:rPr lang="en-US" b="1" dirty="0"/>
              <a:t>1. RAW Bronze Layer</a:t>
            </a:r>
            <a:endParaRPr lang="en-US" dirty="0"/>
          </a:p>
          <a:p>
            <a:pPr marL="114300" indent="0">
              <a:buNone/>
            </a:pPr>
            <a:r>
              <a:rPr lang="en-US" dirty="0"/>
              <a:t>-Original source data </a:t>
            </a:r>
          </a:p>
          <a:p>
            <a:pPr marL="114300" indent="0">
              <a:buNone/>
            </a:pPr>
            <a:r>
              <a:rPr lang="en-US" dirty="0"/>
              <a:t>-Preserved for audit and reprocessing </a:t>
            </a:r>
          </a:p>
          <a:p>
            <a:pPr marL="114300" indent="0">
              <a:buNone/>
            </a:pPr>
            <a:r>
              <a:rPr lang="en-US" dirty="0"/>
              <a:t>-No business transformations </a:t>
            </a:r>
          </a:p>
          <a:p>
            <a:pPr marL="114300" indent="0">
              <a:buNone/>
            </a:pPr>
            <a:r>
              <a:rPr lang="en-US" b="1" dirty="0"/>
              <a:t>2. SILVER Clean Layer</a:t>
            </a:r>
            <a:endParaRPr lang="en-US" dirty="0"/>
          </a:p>
          <a:p>
            <a:pPr marL="114300" indent="0">
              <a:buNone/>
            </a:pPr>
            <a:r>
              <a:rPr lang="en-US" dirty="0"/>
              <a:t>-Cleansed and standardized data </a:t>
            </a:r>
          </a:p>
          <a:p>
            <a:pPr marL="114300" indent="0">
              <a:buNone/>
            </a:pPr>
            <a:r>
              <a:rPr lang="en-US" dirty="0"/>
              <a:t>-Duplicates of multiple versions of the same month or same order ID removed </a:t>
            </a:r>
          </a:p>
          <a:p>
            <a:pPr marL="114300" indent="0">
              <a:buNone/>
            </a:pPr>
            <a:r>
              <a:rPr lang="en-US" dirty="0"/>
              <a:t>-Data types and formats standardized to be aggregated later on</a:t>
            </a:r>
          </a:p>
          <a:p>
            <a:pPr marL="114300" indent="0">
              <a:buNone/>
            </a:pPr>
            <a:r>
              <a:rPr lang="en-US" dirty="0"/>
              <a:t>-Master data separated from transactions </a:t>
            </a:r>
          </a:p>
          <a:p>
            <a:pPr marL="114300" indent="0">
              <a:buNone/>
            </a:pPr>
            <a:r>
              <a:rPr lang="en-US" b="1" dirty="0"/>
              <a:t>3. GOLD / Analytics Layer</a:t>
            </a:r>
            <a:endParaRPr lang="en-US" dirty="0"/>
          </a:p>
          <a:p>
            <a:pPr marL="114300" indent="0">
              <a:buNone/>
            </a:pPr>
            <a:r>
              <a:rPr lang="en-US" dirty="0"/>
              <a:t>-Business-ready data for reporting </a:t>
            </a:r>
          </a:p>
          <a:p>
            <a:pPr marL="114300" indent="0">
              <a:buNone/>
            </a:pPr>
            <a:r>
              <a:rPr lang="en-US" dirty="0"/>
              <a:t>-KPI calculations and aggregated views </a:t>
            </a:r>
          </a:p>
          <a:p>
            <a:pPr marL="114300" indent="0">
              <a:buNone/>
            </a:pPr>
            <a:r>
              <a:rPr lang="en-US" dirty="0"/>
              <a:t>-Optimized for Power BI and descriptive analysis</a:t>
            </a:r>
          </a:p>
          <a:p>
            <a:endParaRPr lang="en-US" dirty="0"/>
          </a:p>
          <a:p>
            <a:pPr marL="0" indent="0">
              <a:buClr>
                <a:schemeClr val="dk1"/>
              </a:buClr>
              <a:buSzPts val="1100"/>
              <a:buNone/>
            </a:pPr>
            <a:endParaRPr lang="en-US" b="1" dirty="0">
              <a:latin typeface="+mj-lt"/>
            </a:endParaRPr>
          </a:p>
        </p:txBody>
      </p:sp>
    </p:spTree>
    <p:extLst>
      <p:ext uri="{BB962C8B-B14F-4D97-AF65-F5344CB8AC3E}">
        <p14:creationId xmlns:p14="http://schemas.microsoft.com/office/powerpoint/2010/main" val="3807544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560"/>
                                        </p:tgtEl>
                                        <p:attrNameLst>
                                          <p:attrName>style.visibility</p:attrName>
                                        </p:attrNameLst>
                                      </p:cBhvr>
                                      <p:to>
                                        <p:strVal val="visible"/>
                                      </p:to>
                                    </p:set>
                                    <p:anim calcmode="lin" valueType="num">
                                      <p:cBhvr additive="base">
                                        <p:cTn id="7" dur="1000"/>
                                        <p:tgtEl>
                                          <p:spTgt spid="56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1000"/>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845550" y="308610"/>
            <a:ext cx="7452900" cy="1728615"/>
          </a:xfrm>
          <a:prstGeom prst="rect">
            <a:avLst/>
          </a:prstGeom>
        </p:spPr>
        <p:txBody>
          <a:bodyPr spcFirstLastPara="1" wrap="square" lIns="91425" tIns="91425" rIns="91425" bIns="91425" anchor="t" anchorCtr="0">
            <a:noAutofit/>
          </a:bodyPr>
          <a:lstStyle/>
          <a:p>
            <a:pPr lvl="0"/>
            <a:r>
              <a:rPr lang="en-US" sz="2400" dirty="0"/>
              <a:t>Data Inconsistencies and Cleansing Strategy</a:t>
            </a:r>
            <a:endParaRPr sz="2400" dirty="0">
              <a:latin typeface="+mn-lt"/>
            </a:endParaRPr>
          </a:p>
        </p:txBody>
      </p:sp>
      <p:sp>
        <p:nvSpPr>
          <p:cNvPr id="21" name="Rectangle 19">
            <a:extLst>
              <a:ext uri="{FF2B5EF4-FFF2-40B4-BE49-F238E27FC236}">
                <a16:creationId xmlns:a16="http://schemas.microsoft.com/office/drawing/2014/main" id="{8A6D7936-E29A-40E8-A78E-01D59FFF4883}"/>
              </a:ext>
            </a:extLst>
          </p:cNvPr>
          <p:cNvSpPr>
            <a:spLocks noChangeArrowheads="1"/>
          </p:cNvSpPr>
          <p:nvPr/>
        </p:nvSpPr>
        <p:spPr bwMode="auto">
          <a:xfrm>
            <a:off x="362309" y="18353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8" name="Table 17">
            <a:extLst>
              <a:ext uri="{FF2B5EF4-FFF2-40B4-BE49-F238E27FC236}">
                <a16:creationId xmlns:a16="http://schemas.microsoft.com/office/drawing/2014/main" id="{55FA798D-62C1-4CB1-AD5A-C0B0D89A1C35}"/>
              </a:ext>
            </a:extLst>
          </p:cNvPr>
          <p:cNvGraphicFramePr>
            <a:graphicFrameLocks noGrp="1"/>
          </p:cNvGraphicFramePr>
          <p:nvPr>
            <p:extLst>
              <p:ext uri="{D42A27DB-BD31-4B8C-83A1-F6EECF244321}">
                <p14:modId xmlns:p14="http://schemas.microsoft.com/office/powerpoint/2010/main" val="833175444"/>
              </p:ext>
            </p:extLst>
          </p:nvPr>
        </p:nvGraphicFramePr>
        <p:xfrm>
          <a:off x="0" y="793630"/>
          <a:ext cx="8919714" cy="3952246"/>
        </p:xfrm>
        <a:graphic>
          <a:graphicData uri="http://schemas.openxmlformats.org/drawingml/2006/table">
            <a:tbl>
              <a:tblPr>
                <a:tableStyleId>{E72E98CB-8F3C-4257-BF64-1F79837B3F13}</a:tableStyleId>
              </a:tblPr>
              <a:tblGrid>
                <a:gridCol w="4459857">
                  <a:extLst>
                    <a:ext uri="{9D8B030D-6E8A-4147-A177-3AD203B41FA5}">
                      <a16:colId xmlns:a16="http://schemas.microsoft.com/office/drawing/2014/main" val="1660669789"/>
                    </a:ext>
                  </a:extLst>
                </a:gridCol>
                <a:gridCol w="4459857">
                  <a:extLst>
                    <a:ext uri="{9D8B030D-6E8A-4147-A177-3AD203B41FA5}">
                      <a16:colId xmlns:a16="http://schemas.microsoft.com/office/drawing/2014/main" val="3609746112"/>
                    </a:ext>
                  </a:extLst>
                </a:gridCol>
              </a:tblGrid>
              <a:tr h="240489">
                <a:tc>
                  <a:txBody>
                    <a:bodyPr/>
                    <a:lstStyle/>
                    <a:p>
                      <a:r>
                        <a:rPr lang="en-US" sz="1200" b="1"/>
                        <a:t>Problem</a:t>
                      </a:r>
                      <a:endParaRPr lang="en-US" sz="1200"/>
                    </a:p>
                  </a:txBody>
                  <a:tcPr marL="65280" marR="65280" marT="32640" marB="32640" anchor="ctr"/>
                </a:tc>
                <a:tc>
                  <a:txBody>
                    <a:bodyPr/>
                    <a:lstStyle/>
                    <a:p>
                      <a:r>
                        <a:rPr lang="en-US" sz="1200" b="1"/>
                        <a:t>Solution</a:t>
                      </a:r>
                      <a:endParaRPr lang="en-US" sz="1200"/>
                    </a:p>
                  </a:txBody>
                  <a:tcPr marL="65280" marR="65280" marT="32640" marB="32640" anchor="ctr"/>
                </a:tc>
                <a:extLst>
                  <a:ext uri="{0D108BD9-81ED-4DB2-BD59-A6C34878D82A}">
                    <a16:rowId xmlns:a16="http://schemas.microsoft.com/office/drawing/2014/main" val="1178222092"/>
                  </a:ext>
                </a:extLst>
              </a:tr>
              <a:tr h="577226">
                <a:tc>
                  <a:txBody>
                    <a:bodyPr/>
                    <a:lstStyle/>
                    <a:p>
                      <a:r>
                        <a:rPr lang="en-US" sz="1200" b="1" dirty="0"/>
                        <a:t>Duplicate Records</a:t>
                      </a:r>
                      <a:r>
                        <a:rPr lang="en-US" sz="1200" dirty="0"/>
                        <a:t> – The same business record appears multiple times.</a:t>
                      </a:r>
                    </a:p>
                  </a:txBody>
                  <a:tcPr marL="65280" marR="65280" marT="32640" marB="32640" anchor="ctr"/>
                </a:tc>
                <a:tc>
                  <a:txBody>
                    <a:bodyPr/>
                    <a:lstStyle/>
                    <a:p>
                      <a:r>
                        <a:rPr lang="en-US" sz="1200" dirty="0"/>
                        <a:t>Identify duplicates using </a:t>
                      </a:r>
                      <a:r>
                        <a:rPr lang="en-US" sz="1200" b="1" dirty="0"/>
                        <a:t>business keys</a:t>
                      </a:r>
                      <a:r>
                        <a:rPr lang="en-US" sz="1200" dirty="0"/>
                        <a:t> and retain the latest valid record according to the agreed rule.</a:t>
                      </a:r>
                    </a:p>
                  </a:txBody>
                  <a:tcPr marL="65280" marR="65280" marT="32640" marB="32640" anchor="ctr"/>
                </a:tc>
                <a:extLst>
                  <a:ext uri="{0D108BD9-81ED-4DB2-BD59-A6C34878D82A}">
                    <a16:rowId xmlns:a16="http://schemas.microsoft.com/office/drawing/2014/main" val="2035866093"/>
                  </a:ext>
                </a:extLst>
              </a:tr>
              <a:tr h="577226">
                <a:tc>
                  <a:txBody>
                    <a:bodyPr/>
                    <a:lstStyle/>
                    <a:p>
                      <a:r>
                        <a:rPr lang="en-US" sz="1200" b="1"/>
                        <a:t>Missing Values</a:t>
                      </a:r>
                      <a:r>
                        <a:rPr lang="en-US" sz="1200"/>
                        <a:t> – Important fields such as Customer, Product, or Date may be missing.</a:t>
                      </a:r>
                    </a:p>
                  </a:txBody>
                  <a:tcPr marL="65280" marR="65280" marT="32640" marB="32640" anchor="ctr"/>
                </a:tc>
                <a:tc>
                  <a:txBody>
                    <a:bodyPr/>
                    <a:lstStyle/>
                    <a:p>
                      <a:r>
                        <a:rPr lang="en-US" sz="1200"/>
                        <a:t>Define </a:t>
                      </a:r>
                      <a:r>
                        <a:rPr lang="en-US" sz="1200" b="1"/>
                        <a:t>mandatory vs. optional fields</a:t>
                      </a:r>
                      <a:r>
                        <a:rPr lang="en-US" sz="1200"/>
                        <a:t>. Quarantine records missing critical fields and use </a:t>
                      </a:r>
                      <a:r>
                        <a:rPr lang="en-US" sz="1200" b="1"/>
                        <a:t>“Unknown”</a:t>
                      </a:r>
                      <a:r>
                        <a:rPr lang="en-US" sz="1200"/>
                        <a:t> members where appropriate.</a:t>
                      </a:r>
                    </a:p>
                  </a:txBody>
                  <a:tcPr marL="65280" marR="65280" marT="32640" marB="32640" anchor="ctr"/>
                </a:tc>
                <a:extLst>
                  <a:ext uri="{0D108BD9-81ED-4DB2-BD59-A6C34878D82A}">
                    <a16:rowId xmlns:a16="http://schemas.microsoft.com/office/drawing/2014/main" val="3201174329"/>
                  </a:ext>
                </a:extLst>
              </a:tr>
              <a:tr h="408858">
                <a:tc>
                  <a:txBody>
                    <a:bodyPr/>
                    <a:lstStyle/>
                    <a:p>
                      <a:r>
                        <a:rPr lang="fr-FR" sz="1200" b="1" dirty="0"/>
                        <a:t>Inconsistant </a:t>
                      </a:r>
                      <a:r>
                        <a:rPr lang="fr-FR" sz="1200" b="1" dirty="0" err="1"/>
                        <a:t>Names</a:t>
                      </a:r>
                      <a:r>
                        <a:rPr lang="fr-FR" sz="1200" b="1" dirty="0"/>
                        <a:t> / Formats</a:t>
                      </a:r>
                      <a:r>
                        <a:rPr lang="fr-FR" sz="1200" dirty="0"/>
                        <a:t> – e.g. Apple iPhone vs. Apple </a:t>
                      </a:r>
                      <a:r>
                        <a:rPr lang="fr-FR" sz="1200" dirty="0" err="1"/>
                        <a:t>Iphone</a:t>
                      </a:r>
                      <a:r>
                        <a:rPr lang="fr-FR" sz="1200" dirty="0"/>
                        <a:t>.</a:t>
                      </a:r>
                    </a:p>
                  </a:txBody>
                  <a:tcPr marL="65280" marR="65280" marT="32640" marB="32640" anchor="ctr"/>
                </a:tc>
                <a:tc>
                  <a:txBody>
                    <a:bodyPr/>
                    <a:lstStyle/>
                    <a:p>
                      <a:r>
                        <a:rPr lang="en-US" sz="1200" b="1" dirty="0"/>
                        <a:t>Standardize text and formats</a:t>
                      </a:r>
                      <a:r>
                        <a:rPr lang="en-US" sz="1200" dirty="0"/>
                        <a:t> before loading into the warehouse.</a:t>
                      </a:r>
                    </a:p>
                  </a:txBody>
                  <a:tcPr marL="65280" marR="65280" marT="32640" marB="32640" anchor="ctr"/>
                </a:tc>
                <a:extLst>
                  <a:ext uri="{0D108BD9-81ED-4DB2-BD59-A6C34878D82A}">
                    <a16:rowId xmlns:a16="http://schemas.microsoft.com/office/drawing/2014/main" val="2899038622"/>
                  </a:ext>
                </a:extLst>
              </a:tr>
              <a:tr h="408858">
                <a:tc>
                  <a:txBody>
                    <a:bodyPr/>
                    <a:lstStyle/>
                    <a:p>
                      <a:r>
                        <a:rPr lang="en-US" sz="1200" b="1" dirty="0"/>
                        <a:t>Schema Changes</a:t>
                      </a:r>
                      <a:r>
                        <a:rPr lang="en-US" sz="1200" dirty="0"/>
                        <a:t> – A new file may contain a column that did not exist in previous files.</a:t>
                      </a:r>
                    </a:p>
                  </a:txBody>
                  <a:tcPr marL="65280" marR="65280" marT="32640" marB="32640" anchor="ctr"/>
                </a:tc>
                <a:tc>
                  <a:txBody>
                    <a:bodyPr/>
                    <a:lstStyle/>
                    <a:p>
                      <a:r>
                        <a:rPr lang="en-US" sz="1200"/>
                        <a:t>Validate the </a:t>
                      </a:r>
                      <a:r>
                        <a:rPr lang="en-US" sz="1200" b="1"/>
                        <a:t>schema</a:t>
                      </a:r>
                      <a:r>
                        <a:rPr lang="en-US" sz="1200"/>
                        <a:t> and apply a controlled schema-evolution process.</a:t>
                      </a:r>
                    </a:p>
                  </a:txBody>
                  <a:tcPr marL="65280" marR="65280" marT="32640" marB="32640" anchor="ctr"/>
                </a:tc>
                <a:extLst>
                  <a:ext uri="{0D108BD9-81ED-4DB2-BD59-A6C34878D82A}">
                    <a16:rowId xmlns:a16="http://schemas.microsoft.com/office/drawing/2014/main" val="2119613869"/>
                  </a:ext>
                </a:extLst>
              </a:tr>
              <a:tr h="642594">
                <a:tc>
                  <a:txBody>
                    <a:bodyPr/>
                    <a:lstStyle/>
                    <a:p>
                      <a:r>
                        <a:rPr lang="en-US" sz="1200" b="1"/>
                        <a:t>Invalid / Inconsistent Dates</a:t>
                      </a:r>
                      <a:r>
                        <a:rPr lang="en-US" sz="1200"/>
                        <a:t> – e.g. Order Date after Ship Date, or different date formats.</a:t>
                      </a:r>
                    </a:p>
                  </a:txBody>
                  <a:tcPr marL="65280" marR="65280" marT="32640" marB="32640" anchor="ctr"/>
                </a:tc>
                <a:tc>
                  <a:txBody>
                    <a:bodyPr/>
                    <a:lstStyle/>
                    <a:p>
                      <a:r>
                        <a:rPr lang="en-US" sz="1200"/>
                        <a:t>Standardize date formats and </a:t>
                      </a:r>
                      <a:r>
                        <a:rPr lang="en-US" sz="1200" b="1"/>
                        <a:t>validate date relationships</a:t>
                      </a:r>
                      <a:r>
                        <a:rPr lang="en-US" sz="1200"/>
                        <a:t>. Quarantine invalid records for review.</a:t>
                      </a:r>
                    </a:p>
                  </a:txBody>
                  <a:tcPr marL="65280" marR="65280" marT="32640" marB="32640" anchor="ctr"/>
                </a:tc>
                <a:extLst>
                  <a:ext uri="{0D108BD9-81ED-4DB2-BD59-A6C34878D82A}">
                    <a16:rowId xmlns:a16="http://schemas.microsoft.com/office/drawing/2014/main" val="2737037460"/>
                  </a:ext>
                </a:extLst>
              </a:tr>
              <a:tr h="408858">
                <a:tc>
                  <a:txBody>
                    <a:bodyPr/>
                    <a:lstStyle/>
                    <a:p>
                      <a:r>
                        <a:rPr lang="en-US" sz="1200" b="1" dirty="0"/>
                        <a:t>Negative / Unexpected Sales</a:t>
                      </a:r>
                      <a:r>
                        <a:rPr lang="en-US" sz="1200" dirty="0"/>
                        <a:t> – e.g. Sales = -250.</a:t>
                      </a:r>
                    </a:p>
                  </a:txBody>
                  <a:tcPr marL="65280" marR="65280" marT="32640" marB="32640" anchor="ctr"/>
                </a:tc>
                <a:tc>
                  <a:txBody>
                    <a:bodyPr/>
                    <a:lstStyle/>
                    <a:p>
                      <a:r>
                        <a:rPr lang="en-US" sz="1200"/>
                        <a:t>Apply </a:t>
                      </a:r>
                      <a:r>
                        <a:rPr lang="en-US" sz="1200" b="1"/>
                        <a:t>business rules</a:t>
                      </a:r>
                      <a:r>
                        <a:rPr lang="en-US" sz="1200"/>
                        <a:t> to distinguish legitimate returns/credits from erroneous records.</a:t>
                      </a:r>
                    </a:p>
                  </a:txBody>
                  <a:tcPr marL="65280" marR="65280" marT="32640" marB="32640" anchor="ctr"/>
                </a:tc>
                <a:extLst>
                  <a:ext uri="{0D108BD9-81ED-4DB2-BD59-A6C34878D82A}">
                    <a16:rowId xmlns:a16="http://schemas.microsoft.com/office/drawing/2014/main" val="2596085900"/>
                  </a:ext>
                </a:extLst>
              </a:tr>
              <a:tr h="577226">
                <a:tc>
                  <a:txBody>
                    <a:bodyPr/>
                    <a:lstStyle/>
                    <a:p>
                      <a:r>
                        <a:rPr lang="en-US" sz="1200" b="1"/>
                        <a:t>Duplicate / Reprocessed Files</a:t>
                      </a:r>
                      <a:r>
                        <a:rPr lang="en-US" sz="1200"/>
                        <a:t> – The same source month may have multiple file versions.</a:t>
                      </a:r>
                    </a:p>
                  </a:txBody>
                  <a:tcPr marL="65280" marR="65280" marT="32640" marB="32640" anchor="ctr"/>
                </a:tc>
                <a:tc>
                  <a:txBody>
                    <a:bodyPr/>
                    <a:lstStyle/>
                    <a:p>
                      <a:r>
                        <a:rPr lang="en-US" sz="1200" dirty="0"/>
                        <a:t>Use </a:t>
                      </a:r>
                      <a:r>
                        <a:rPr lang="en-US" sz="1200" b="1" dirty="0"/>
                        <a:t>Source Month + File Name + Load Timestamp</a:t>
                      </a:r>
                      <a:r>
                        <a:rPr lang="en-US" sz="1200" dirty="0"/>
                        <a:t> to identify and manage file versions.</a:t>
                      </a:r>
                    </a:p>
                  </a:txBody>
                  <a:tcPr marL="65280" marR="65280" marT="32640" marB="32640" anchor="ctr"/>
                </a:tc>
                <a:extLst>
                  <a:ext uri="{0D108BD9-81ED-4DB2-BD59-A6C34878D82A}">
                    <a16:rowId xmlns:a16="http://schemas.microsoft.com/office/drawing/2014/main" val="3047239774"/>
                  </a:ext>
                </a:extLst>
              </a:tr>
            </a:tbl>
          </a:graphicData>
        </a:graphic>
      </p:graphicFrame>
    </p:spTree>
    <p:extLst>
      <p:ext uri="{BB962C8B-B14F-4D97-AF65-F5344CB8AC3E}">
        <p14:creationId xmlns:p14="http://schemas.microsoft.com/office/powerpoint/2010/main" val="2016275115"/>
      </p:ext>
    </p:extLst>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652</Words>
  <Application>Microsoft Office PowerPoint</Application>
  <PresentationFormat>On-screen Show (16:9)</PresentationFormat>
  <Paragraphs>92</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Crimson Text</vt:lpstr>
      <vt:lpstr>Vidaloka</vt:lpstr>
      <vt:lpstr>Montserrat</vt:lpstr>
      <vt:lpstr>Arial</vt:lpstr>
      <vt:lpstr>Minimalist Business Slides XL by Slidesgo</vt:lpstr>
      <vt:lpstr>Solution High-Level Design</vt:lpstr>
      <vt:lpstr>Business and Technical Objective</vt:lpstr>
      <vt:lpstr>Business and Technical Objective</vt:lpstr>
      <vt:lpstr>Data Source and Ingestion</vt:lpstr>
      <vt:lpstr>Technical Architecture</vt:lpstr>
      <vt:lpstr>Data Processing Flow</vt:lpstr>
      <vt:lpstr>Data Warehouse Structure</vt:lpstr>
      <vt:lpstr>Data Inconsistencies and Cleansing Strategy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Solution High-Level Design</dc:title>
  <cp:lastModifiedBy>asmaa adili</cp:lastModifiedBy>
  <cp:revision>2</cp:revision>
  <dcterms:modified xsi:type="dcterms:W3CDTF">2026-09-25T17:38:08Z</dcterms:modified>
</cp:coreProperties>
</file>